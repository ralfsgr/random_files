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58" r:id="rId3"/>
    <p:sldId id="259" r:id="rId4"/>
    <p:sldId id="260"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598" autoAdjust="0"/>
  </p:normalViewPr>
  <p:slideViewPr>
    <p:cSldViewPr>
      <p:cViewPr varScale="1">
        <p:scale>
          <a:sx n="110" d="100"/>
          <a:sy n="110" d="100"/>
        </p:scale>
        <p:origin x="-1692"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4535F0-2196-4750-A227-7485E5180352}" type="datetimeFigureOut">
              <a:rPr lang="en-US" smtClean="0"/>
              <a:pPr/>
              <a:t>3/7/2025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4BAA38-CA27-4CEC-82F6-9CC1C27337A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C4BAA38-CA27-4CEC-82F6-9CC1C27337A6}"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29F721-9100-4632-A372-749A847FF0B1}" type="datetimeFigureOut">
              <a:rPr lang="en-US" smtClean="0"/>
              <a:pPr/>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29F721-9100-4632-A372-749A847FF0B1}" type="datetimeFigureOut">
              <a:rPr lang="en-US" smtClean="0"/>
              <a:pPr/>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29F721-9100-4632-A372-749A847FF0B1}" type="datetimeFigureOut">
              <a:rPr lang="en-US" smtClean="0"/>
              <a:pPr/>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29F721-9100-4632-A372-749A847FF0B1}" type="datetimeFigureOut">
              <a:rPr lang="en-US" smtClean="0"/>
              <a:pPr/>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29F721-9100-4632-A372-749A847FF0B1}" type="datetimeFigureOut">
              <a:rPr lang="en-US" smtClean="0"/>
              <a:pPr/>
              <a:t>3/7/2025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29F721-9100-4632-A372-749A847FF0B1}" type="datetimeFigureOut">
              <a:rPr lang="en-US" smtClean="0"/>
              <a:pPr/>
              <a:t>3/7/2025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9F721-9100-4632-A372-749A847FF0B1}" type="datetimeFigureOut">
              <a:rPr lang="en-US" smtClean="0"/>
              <a:pPr/>
              <a:t>3/7/2025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29F721-9100-4632-A372-749A847FF0B1}" type="datetimeFigureOut">
              <a:rPr lang="en-US" smtClean="0"/>
              <a:pPr/>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29F721-9100-4632-A372-749A847FF0B1}" type="datetimeFigureOut">
              <a:rPr lang="en-US" smtClean="0"/>
              <a:pPr/>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29F721-9100-4632-A372-749A847FF0B1}" type="datetimeFigureOut">
              <a:rPr lang="en-US" smtClean="0"/>
              <a:pPr/>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29F721-9100-4632-A372-749A847FF0B1}" type="datetimeFigureOut">
              <a:rPr lang="en-US" smtClean="0"/>
              <a:pPr/>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4A14B-543C-4C55-BACF-4D6FCBD203A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29F721-9100-4632-A372-749A847FF0B1}" type="datetimeFigureOut">
              <a:rPr lang="en-US" smtClean="0"/>
              <a:pPr/>
              <a:t>3/7/2025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4A14B-543C-4C55-BACF-4D6FCBD203A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1905000" cy="5745162"/>
          </a:xfrm>
        </p:spPr>
        <p:txBody>
          <a:bodyPr anchor="t">
            <a:normAutofit/>
          </a:bodyPr>
          <a:lstStyle/>
          <a:p>
            <a:pPr algn="l"/>
            <a:r>
              <a:rPr lang="en-US" sz="1400" b="1" dirty="0" smtClean="0"/>
              <a:t>Bachelors degree finals:</a:t>
            </a:r>
            <a:r>
              <a:rPr lang="en-US" sz="1400" dirty="0" smtClean="0"/>
              <a:t/>
            </a:r>
            <a:br>
              <a:rPr lang="en-US" sz="1400" dirty="0" smtClean="0"/>
            </a:br>
            <a:r>
              <a:rPr lang="en-US" sz="1400" dirty="0" smtClean="0"/>
              <a:t/>
            </a:r>
            <a:br>
              <a:rPr lang="en-US" sz="1400" dirty="0" smtClean="0"/>
            </a:br>
            <a:r>
              <a:rPr lang="en-US" sz="1400" dirty="0" smtClean="0"/>
              <a:t>Rebuild analog motor test bench into digital format for better measurements. </a:t>
            </a:r>
            <a:br>
              <a:rPr lang="en-US" sz="1400" dirty="0" smtClean="0"/>
            </a:br>
            <a:r>
              <a:rPr lang="en-US" sz="1400" dirty="0"/>
              <a:t/>
            </a:r>
            <a:br>
              <a:rPr lang="en-US" sz="1400" dirty="0"/>
            </a:br>
            <a:r>
              <a:rPr lang="en-US" sz="1400" b="1" dirty="0" smtClean="0"/>
              <a:t>Key </a:t>
            </a:r>
            <a:r>
              <a:rPr lang="en-US" sz="1400" b="1" dirty="0"/>
              <a:t>w</a:t>
            </a:r>
            <a:r>
              <a:rPr lang="en-US" sz="1400" b="1" dirty="0" smtClean="0"/>
              <a:t>ork performed:</a:t>
            </a:r>
            <a:br>
              <a:rPr lang="en-US" sz="1400" b="1" dirty="0" smtClean="0"/>
            </a:br>
            <a:r>
              <a:rPr lang="en-US" sz="1400" dirty="0"/>
              <a:t/>
            </a:r>
            <a:br>
              <a:rPr lang="en-US" sz="1400" dirty="0"/>
            </a:br>
            <a:r>
              <a:rPr lang="en-US" sz="1400" dirty="0" smtClean="0"/>
              <a:t>* New sensor </a:t>
            </a:r>
            <a:r>
              <a:rPr lang="lv-LV" sz="1400" dirty="0" smtClean="0"/>
              <a:t>integration</a:t>
            </a:r>
            <a:r>
              <a:rPr lang="en-US" sz="1400" dirty="0" smtClean="0"/>
              <a:t> (</a:t>
            </a:r>
            <a:r>
              <a:rPr lang="en-US" sz="1400" dirty="0" err="1" smtClean="0"/>
              <a:t>thermistor</a:t>
            </a:r>
            <a:r>
              <a:rPr lang="en-US" sz="1400" dirty="0" smtClean="0"/>
              <a:t> bridge, ACS712 hall sensor for up to 20 amps measurement);</a:t>
            </a:r>
            <a:br>
              <a:rPr lang="en-US" sz="1400" dirty="0" smtClean="0"/>
            </a:br>
            <a:r>
              <a:rPr lang="en-US" sz="1400" dirty="0"/>
              <a:t/>
            </a:r>
            <a:br>
              <a:rPr lang="en-US" sz="1400" dirty="0"/>
            </a:br>
            <a:r>
              <a:rPr lang="en-US" sz="1400" dirty="0" smtClean="0"/>
              <a:t>* PCB design;</a:t>
            </a:r>
            <a:br>
              <a:rPr lang="en-US" sz="1400" dirty="0" smtClean="0"/>
            </a:br>
            <a:r>
              <a:rPr lang="en-US" sz="1400" dirty="0" smtClean="0"/>
              <a:t/>
            </a:r>
            <a:br>
              <a:rPr lang="en-US" sz="1400" dirty="0" smtClean="0"/>
            </a:br>
            <a:r>
              <a:rPr lang="en-US" sz="1400" dirty="0" smtClean="0"/>
              <a:t>* Signal range calibration via </a:t>
            </a:r>
            <a:r>
              <a:rPr lang="en-US" sz="1400" dirty="0" err="1" smtClean="0"/>
              <a:t>Opamp</a:t>
            </a:r>
            <a:r>
              <a:rPr lang="en-US" sz="1400" dirty="0" smtClean="0"/>
              <a:t> circuit to make 0 – 5V range for compatibility with provided ADC converter.</a:t>
            </a:r>
            <a:br>
              <a:rPr lang="en-US" sz="1400" dirty="0" smtClean="0"/>
            </a:br>
            <a:endParaRPr lang="en-US" sz="1400" dirty="0"/>
          </a:p>
        </p:txBody>
      </p:sp>
      <p:pic>
        <p:nvPicPr>
          <p:cNvPr id="5" name="Content Placeholder 3"/>
          <p:cNvPicPr>
            <a:picLocks noGrp="1" noChangeAspect="1"/>
          </p:cNvPicPr>
          <p:nvPr>
            <p:ph idx="1"/>
          </p:nvPr>
        </p:nvPicPr>
        <p:blipFill>
          <a:blip r:embed="rId2" cstate="print"/>
          <a:srcRect/>
          <a:stretch>
            <a:fillRect/>
          </a:stretch>
        </p:blipFill>
        <p:spPr>
          <a:xfrm>
            <a:off x="5867400" y="304800"/>
            <a:ext cx="3165614" cy="1752600"/>
          </a:xfrm>
        </p:spPr>
      </p:pic>
      <p:pic>
        <p:nvPicPr>
          <p:cNvPr id="6" name="Content Placeholder 5"/>
          <p:cNvPicPr>
            <a:picLocks noChangeAspect="1"/>
          </p:cNvPicPr>
          <p:nvPr/>
        </p:nvPicPr>
        <p:blipFill>
          <a:blip r:embed="rId3" cstate="print"/>
          <a:srcRect/>
          <a:stretch>
            <a:fillRect/>
          </a:stretch>
        </p:blipFill>
        <p:spPr>
          <a:xfrm>
            <a:off x="2743200" y="304800"/>
            <a:ext cx="3136360" cy="1752600"/>
          </a:xfrm>
          <a:prstGeom prst="rect">
            <a:avLst/>
          </a:prstGeom>
        </p:spPr>
      </p:pic>
      <p:pic>
        <p:nvPicPr>
          <p:cNvPr id="7" name="Picture 2"/>
          <p:cNvPicPr>
            <a:picLocks noChangeAspect="1" noChangeArrowheads="1"/>
          </p:cNvPicPr>
          <p:nvPr/>
        </p:nvPicPr>
        <p:blipFill>
          <a:blip r:embed="rId4"/>
          <a:srcRect/>
          <a:stretch>
            <a:fillRect/>
          </a:stretch>
        </p:blipFill>
        <p:spPr>
          <a:xfrm>
            <a:off x="3048000" y="2096117"/>
            <a:ext cx="5334000" cy="2215297"/>
          </a:xfrm>
          <a:prstGeom prst="rect">
            <a:avLst/>
          </a:prstGeom>
          <a:noFill/>
        </p:spPr>
      </p:pic>
      <p:pic>
        <p:nvPicPr>
          <p:cNvPr id="8" name="Content Placeholder 3" descr="C:\Documents and Settings\Lenovo\My Documents\Dokumenti\Mācības\4.kurss\Bakalaura darbs\Mērijumi\Bildes\20160511_151046.jpg"/>
          <p:cNvPicPr>
            <a:picLocks/>
          </p:cNvPicPr>
          <p:nvPr/>
        </p:nvPicPr>
        <p:blipFill>
          <a:blip r:embed="rId5" cstate="print"/>
          <a:srcRect/>
          <a:stretch>
            <a:fillRect/>
          </a:stretch>
        </p:blipFill>
        <p:spPr>
          <a:xfrm>
            <a:off x="2590800" y="4343400"/>
            <a:ext cx="3175000" cy="1973263"/>
          </a:xfrm>
          <a:prstGeom prst="rect">
            <a:avLst/>
          </a:prstGeom>
        </p:spPr>
      </p:pic>
      <p:pic>
        <p:nvPicPr>
          <p:cNvPr id="9" name="Content Placeholder 5"/>
          <p:cNvPicPr>
            <a:picLocks/>
          </p:cNvPicPr>
          <p:nvPr/>
        </p:nvPicPr>
        <p:blipFill>
          <a:blip r:embed="rId6" cstate="print"/>
          <a:srcRect/>
          <a:stretch>
            <a:fillRect/>
          </a:stretch>
        </p:blipFill>
        <p:spPr>
          <a:xfrm>
            <a:off x="5791200" y="4343400"/>
            <a:ext cx="2971800" cy="1981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2819400" cy="6354762"/>
          </a:xfrm>
        </p:spPr>
        <p:txBody>
          <a:bodyPr anchor="t">
            <a:normAutofit/>
          </a:bodyPr>
          <a:lstStyle/>
          <a:p>
            <a:pPr algn="l"/>
            <a:r>
              <a:rPr lang="en-US" sz="1400" b="1" dirty="0" smtClean="0"/>
              <a:t>Electronic </a:t>
            </a:r>
            <a:r>
              <a:rPr lang="lv-LV" sz="1400" b="1" dirty="0" smtClean="0"/>
              <a:t>wiring </a:t>
            </a:r>
            <a:r>
              <a:rPr lang="en-US" sz="1400" b="1" dirty="0" smtClean="0"/>
              <a:t>on moving parts:</a:t>
            </a:r>
            <a:br>
              <a:rPr lang="en-US" sz="1400" b="1" dirty="0" smtClean="0"/>
            </a:br>
            <a:r>
              <a:rPr lang="en-US" sz="1400" dirty="0" smtClean="0"/>
              <a:t/>
            </a:r>
            <a:br>
              <a:rPr lang="en-US" sz="1400" dirty="0" smtClean="0"/>
            </a:br>
            <a:r>
              <a:rPr lang="en-US" sz="1400" dirty="0" smtClean="0"/>
              <a:t>One motor stationary, other moving up and down. Implement reliable communication and power supply for the upper motor and homing sensor with easy maintenance solutions in mind.</a:t>
            </a:r>
            <a:r>
              <a:rPr lang="en-US" sz="1400" dirty="0"/>
              <a:t/>
            </a:r>
            <a:br>
              <a:rPr lang="en-US" sz="1400" dirty="0"/>
            </a:br>
            <a:r>
              <a:rPr lang="en-US" sz="1400" dirty="0" smtClean="0"/>
              <a:t/>
            </a:r>
            <a:br>
              <a:rPr lang="en-US" sz="1400" dirty="0" smtClean="0"/>
            </a:br>
            <a:r>
              <a:rPr lang="en-US" sz="1400" b="1" dirty="0" smtClean="0"/>
              <a:t>Key work performed:</a:t>
            </a:r>
            <a:br>
              <a:rPr lang="en-US" sz="1400" b="1" dirty="0" smtClean="0"/>
            </a:br>
            <a:r>
              <a:rPr lang="en-US" sz="1400" dirty="0" smtClean="0"/>
              <a:t/>
            </a:r>
            <a:br>
              <a:rPr lang="en-US" sz="1400" dirty="0" smtClean="0"/>
            </a:br>
            <a:r>
              <a:rPr lang="en-US" sz="1400" dirty="0" smtClean="0"/>
              <a:t>* Replacing first prototype </a:t>
            </a:r>
            <a:r>
              <a:rPr lang="lv-LV" sz="1400" dirty="0" smtClean="0"/>
              <a:t>+- 10 wires with </a:t>
            </a:r>
            <a:r>
              <a:rPr lang="en-US" sz="1400" dirty="0" smtClean="0"/>
              <a:t>JST crimping connectors (which didn’t perform well </a:t>
            </a:r>
            <a:r>
              <a:rPr lang="lv-LV" sz="1400" dirty="0" smtClean="0"/>
              <a:t>in range of 10k+ </a:t>
            </a:r>
            <a:r>
              <a:rPr lang="en-US" sz="1400" dirty="0" smtClean="0"/>
              <a:t>cycles) with</a:t>
            </a:r>
            <a:r>
              <a:rPr lang="lv-LV" sz="1400" dirty="0" smtClean="0"/>
              <a:t> one</a:t>
            </a:r>
            <a:r>
              <a:rPr lang="en-US" sz="1400" dirty="0" smtClean="0"/>
              <a:t> FFC cable</a:t>
            </a:r>
            <a:r>
              <a:rPr lang="lv-LV" sz="1400" dirty="0" smtClean="0"/>
              <a:t> </a:t>
            </a:r>
            <a:r>
              <a:rPr lang="en-US" sz="1400" dirty="0" smtClean="0"/>
              <a:t>as it can withstand up to </a:t>
            </a:r>
            <a:r>
              <a:rPr lang="lv-LV" sz="1400" dirty="0" smtClean="0"/>
              <a:t>3</a:t>
            </a:r>
            <a:r>
              <a:rPr lang="en-US" sz="1400" dirty="0" smtClean="0"/>
              <a:t> million bending cycles with bending radius of 5 mm as per datasheet</a:t>
            </a:r>
            <a:r>
              <a:rPr lang="lv-LV" sz="1400" dirty="0" smtClean="0"/>
              <a:t>;</a:t>
            </a:r>
            <a:r>
              <a:rPr lang="en-US" sz="1400" dirty="0" smtClean="0"/>
              <a:t> </a:t>
            </a:r>
            <a:br>
              <a:rPr lang="en-US" sz="1400" dirty="0" smtClean="0"/>
            </a:br>
            <a:r>
              <a:rPr lang="en-US" sz="1400" dirty="0"/>
              <a:t/>
            </a:r>
            <a:br>
              <a:rPr lang="en-US" sz="1400" dirty="0"/>
            </a:br>
            <a:r>
              <a:rPr lang="en-US" sz="1400" dirty="0" smtClean="0"/>
              <a:t>* </a:t>
            </a:r>
            <a:r>
              <a:rPr lang="lv-LV" sz="1400" dirty="0" smtClean="0"/>
              <a:t>PCB redesign for FFC</a:t>
            </a:r>
            <a:r>
              <a:rPr lang="en-US" sz="1400" dirty="0" smtClean="0"/>
              <a:t> cable </a:t>
            </a:r>
            <a:r>
              <a:rPr lang="lv-LV" sz="1400" dirty="0" smtClean="0"/>
              <a:t>compatibility;</a:t>
            </a:r>
            <a:r>
              <a:rPr lang="en-US" sz="1400" dirty="0" smtClean="0"/>
              <a:t/>
            </a:r>
            <a:br>
              <a:rPr lang="en-US" sz="1400" dirty="0" smtClean="0"/>
            </a:br>
            <a:r>
              <a:rPr lang="en-US" sz="1400" dirty="0"/>
              <a:t/>
            </a:r>
            <a:br>
              <a:rPr lang="en-US" sz="1400" dirty="0"/>
            </a:br>
            <a:r>
              <a:rPr lang="en-US" sz="1400" b="1" dirty="0" smtClean="0"/>
              <a:t>Result:</a:t>
            </a:r>
            <a:r>
              <a:rPr lang="en-US" sz="1400" dirty="0" smtClean="0"/>
              <a:t/>
            </a:r>
            <a:br>
              <a:rPr lang="en-US" sz="1400" dirty="0" smtClean="0"/>
            </a:br>
            <a:r>
              <a:rPr lang="en-US" sz="1400" dirty="0" smtClean="0"/>
              <a:t>* No more wiring change after few months;</a:t>
            </a:r>
            <a:br>
              <a:rPr lang="en-US" sz="1400" dirty="0" smtClean="0"/>
            </a:br>
            <a:r>
              <a:rPr lang="en-US" sz="1400" dirty="0" smtClean="0"/>
              <a:t>* Easy to </a:t>
            </a:r>
            <a:r>
              <a:rPr lang="lv-LV" sz="1400" dirty="0" smtClean="0"/>
              <a:t>troubleshoot moving electronic part as there is only one cable left and no more wire crimping needed</a:t>
            </a:r>
            <a:r>
              <a:rPr lang="en-US" sz="1400" dirty="0" smtClean="0"/>
              <a:t>.</a:t>
            </a:r>
            <a:endParaRPr lang="en-US" sz="1400" dirty="0"/>
          </a:p>
        </p:txBody>
      </p:sp>
      <p:pic>
        <p:nvPicPr>
          <p:cNvPr id="1029" name="Picture 5"/>
          <p:cNvPicPr>
            <a:picLocks noChangeAspect="1" noChangeArrowheads="1"/>
          </p:cNvPicPr>
          <p:nvPr/>
        </p:nvPicPr>
        <p:blipFill>
          <a:blip r:embed="rId2"/>
          <a:srcRect/>
          <a:stretch>
            <a:fillRect/>
          </a:stretch>
        </p:blipFill>
        <p:spPr bwMode="auto">
          <a:xfrm>
            <a:off x="3733800" y="381000"/>
            <a:ext cx="5210175" cy="61150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2743200" cy="6354762"/>
          </a:xfrm>
        </p:spPr>
        <p:txBody>
          <a:bodyPr anchor="t">
            <a:normAutofit/>
          </a:bodyPr>
          <a:lstStyle/>
          <a:p>
            <a:pPr algn="l"/>
            <a:r>
              <a:rPr lang="en-US" sz="1400" b="1" dirty="0" smtClean="0"/>
              <a:t>Puck with LED strip:</a:t>
            </a:r>
            <a:br>
              <a:rPr lang="en-US" sz="1400" b="1" dirty="0" smtClean="0"/>
            </a:br>
            <a:r>
              <a:rPr lang="en-US" sz="1400" b="1" dirty="0" smtClean="0"/>
              <a:t/>
            </a:r>
            <a:br>
              <a:rPr lang="en-US" sz="1400" b="1" dirty="0" smtClean="0"/>
            </a:br>
            <a:r>
              <a:rPr lang="en-US" sz="1400" dirty="0" smtClean="0"/>
              <a:t>Based on STM32, LED strip control via SPI, accelerometer (LSM6DSOTR) via I2C and specific charging possibility for 3.7v Li-Po battery with user friendly design.</a:t>
            </a:r>
            <a:br>
              <a:rPr lang="en-US" sz="1400" dirty="0" smtClean="0"/>
            </a:br>
            <a:r>
              <a:rPr lang="en-US" sz="1400" dirty="0" smtClean="0"/>
              <a:t>LED strip </a:t>
            </a:r>
            <a:r>
              <a:rPr lang="lv-LV" sz="1400" dirty="0" smtClean="0"/>
              <a:t>lights up</a:t>
            </a:r>
            <a:r>
              <a:rPr lang="en-US" sz="1400" dirty="0" smtClean="0"/>
              <a:t> when specific threshold is reached from accelerometer. W</a:t>
            </a:r>
            <a:r>
              <a:rPr lang="lv-LV" sz="1400" dirty="0" smtClean="0"/>
              <a:t>hen</a:t>
            </a:r>
            <a:r>
              <a:rPr lang="en-US" sz="1400" dirty="0" smtClean="0"/>
              <a:t> no trigger </a:t>
            </a:r>
            <a:r>
              <a:rPr lang="lv-LV" sz="1400" dirty="0" smtClean="0"/>
              <a:t>detected </a:t>
            </a:r>
            <a:r>
              <a:rPr lang="en-US" sz="1400" dirty="0" smtClean="0"/>
              <a:t>system</a:t>
            </a:r>
            <a:r>
              <a:rPr lang="lv-LV" sz="1400" dirty="0" smtClean="0"/>
              <a:t> goes</a:t>
            </a:r>
            <a:r>
              <a:rPr lang="en-US" sz="1400" dirty="0" smtClean="0"/>
              <a:t> in sleep mode with 200uA consumption.</a:t>
            </a:r>
            <a:br>
              <a:rPr lang="en-US" sz="1400" dirty="0" smtClean="0"/>
            </a:br>
            <a:r>
              <a:rPr lang="en-US" sz="1400" dirty="0"/>
              <a:t/>
            </a:r>
            <a:br>
              <a:rPr lang="en-US" sz="1400" dirty="0"/>
            </a:br>
            <a:r>
              <a:rPr lang="en-US" sz="1400" b="1" dirty="0" smtClean="0"/>
              <a:t>Key</a:t>
            </a:r>
            <a:r>
              <a:rPr lang="en-US" sz="1400" dirty="0" smtClean="0"/>
              <a:t> </a:t>
            </a:r>
            <a:r>
              <a:rPr lang="en-US" sz="1400" b="1" dirty="0"/>
              <a:t>w</a:t>
            </a:r>
            <a:r>
              <a:rPr lang="en-US" sz="1400" b="1" dirty="0" smtClean="0"/>
              <a:t>ork performed:</a:t>
            </a:r>
            <a:r>
              <a:rPr lang="en-US" sz="1400" dirty="0" smtClean="0"/>
              <a:t/>
            </a:r>
            <a:br>
              <a:rPr lang="en-US" sz="1400" dirty="0" smtClean="0"/>
            </a:br>
            <a:r>
              <a:rPr lang="en-US" sz="1400" dirty="0"/>
              <a:t/>
            </a:r>
            <a:br>
              <a:rPr lang="en-US" sz="1400" dirty="0"/>
            </a:br>
            <a:r>
              <a:rPr lang="en-US" sz="1400" dirty="0" smtClean="0"/>
              <a:t>* H-bridge rectifier integration at charging input to make it non polar charging;</a:t>
            </a:r>
            <a:br>
              <a:rPr lang="en-US" sz="1400" dirty="0" smtClean="0"/>
            </a:br>
            <a:r>
              <a:rPr lang="en-US" sz="1400" dirty="0" smtClean="0"/>
              <a:t/>
            </a:r>
            <a:br>
              <a:rPr lang="en-US" sz="1400" dirty="0" smtClean="0"/>
            </a:br>
            <a:r>
              <a:rPr lang="en-US" sz="1400" dirty="0" smtClean="0"/>
              <a:t>* Charging circuit with MAX1736EUT42+T;</a:t>
            </a:r>
            <a:r>
              <a:rPr lang="en-US" sz="1400" b="1" dirty="0" smtClean="0"/>
              <a:t/>
            </a:r>
            <a:br>
              <a:rPr lang="en-US" sz="1400" b="1" dirty="0" smtClean="0"/>
            </a:br>
            <a:r>
              <a:rPr lang="en-US" sz="1400" b="1" dirty="0" smtClean="0"/>
              <a:t/>
            </a:r>
            <a:br>
              <a:rPr lang="en-US" sz="1400" b="1" dirty="0" smtClean="0"/>
            </a:br>
            <a:r>
              <a:rPr lang="en-US" sz="1400" b="1" dirty="0" smtClean="0"/>
              <a:t>* </a:t>
            </a:r>
            <a:r>
              <a:rPr lang="en-US" sz="1400" dirty="0" smtClean="0"/>
              <a:t>low voltage threshold detection to avoid battery drainage.</a:t>
            </a:r>
            <a:endParaRPr lang="en-US" sz="1400" dirty="0"/>
          </a:p>
        </p:txBody>
      </p:sp>
      <p:pic>
        <p:nvPicPr>
          <p:cNvPr id="2052" name="Picture 4"/>
          <p:cNvPicPr>
            <a:picLocks noChangeAspect="1" noChangeArrowheads="1"/>
          </p:cNvPicPr>
          <p:nvPr/>
        </p:nvPicPr>
        <p:blipFill>
          <a:blip r:embed="rId2"/>
          <a:srcRect/>
          <a:stretch>
            <a:fillRect/>
          </a:stretch>
        </p:blipFill>
        <p:spPr bwMode="auto">
          <a:xfrm>
            <a:off x="3429000" y="609600"/>
            <a:ext cx="5466155" cy="3048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429000" y="3352800"/>
            <a:ext cx="4572000" cy="3253463"/>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2971800" cy="6354762"/>
          </a:xfrm>
        </p:spPr>
        <p:txBody>
          <a:bodyPr anchor="t">
            <a:normAutofit/>
          </a:bodyPr>
          <a:lstStyle/>
          <a:p>
            <a:pPr algn="l"/>
            <a:r>
              <a:rPr lang="en-US" sz="1400" b="1" dirty="0" smtClean="0"/>
              <a:t>Puck with LED strip charging station:</a:t>
            </a:r>
            <a:br>
              <a:rPr lang="en-US" sz="1400" b="1" dirty="0" smtClean="0"/>
            </a:br>
            <a:r>
              <a:rPr lang="en-US" sz="1400" b="1" dirty="0"/>
              <a:t/>
            </a:r>
            <a:br>
              <a:rPr lang="en-US" sz="1400" b="1" dirty="0"/>
            </a:br>
            <a:r>
              <a:rPr lang="en-US" sz="1400" dirty="0" smtClean="0"/>
              <a:t>Design charging station for 3.7V Li-Po charging for specific device.</a:t>
            </a:r>
            <a:br>
              <a:rPr lang="en-US" sz="1400" dirty="0" smtClean="0"/>
            </a:br>
            <a:r>
              <a:rPr lang="en-US" sz="1400" dirty="0"/>
              <a:t/>
            </a:r>
            <a:br>
              <a:rPr lang="en-US" sz="1400" dirty="0"/>
            </a:br>
            <a:r>
              <a:rPr lang="en-US" sz="1400" b="1" dirty="0" smtClean="0"/>
              <a:t>Key</a:t>
            </a:r>
            <a:r>
              <a:rPr lang="en-US" sz="1400" dirty="0" smtClean="0"/>
              <a:t> </a:t>
            </a:r>
            <a:r>
              <a:rPr lang="en-US" sz="1400" b="1" dirty="0"/>
              <a:t>w</a:t>
            </a:r>
            <a:r>
              <a:rPr lang="en-US" sz="1400" b="1" dirty="0" smtClean="0"/>
              <a:t>ork performed:</a:t>
            </a:r>
            <a:r>
              <a:rPr lang="en-US" sz="1400" dirty="0" smtClean="0"/>
              <a:t/>
            </a:r>
            <a:br>
              <a:rPr lang="en-US" sz="1400" dirty="0" smtClean="0"/>
            </a:br>
            <a:r>
              <a:rPr lang="en-US" sz="1400" dirty="0"/>
              <a:t/>
            </a:r>
            <a:br>
              <a:rPr lang="en-US" sz="1400" dirty="0"/>
            </a:br>
            <a:r>
              <a:rPr lang="en-US" sz="1400" dirty="0" smtClean="0"/>
              <a:t>* Current monitoring with </a:t>
            </a:r>
            <a:r>
              <a:rPr lang="en-US" sz="1400" dirty="0"/>
              <a:t/>
            </a:r>
            <a:br>
              <a:rPr lang="en-US" sz="1400" dirty="0"/>
            </a:br>
            <a:r>
              <a:rPr lang="en-US" sz="1400" dirty="0" smtClean="0"/>
              <a:t>current sense amplifier INA185 and shunt resistor;</a:t>
            </a:r>
            <a:br>
              <a:rPr lang="en-US" sz="1400" dirty="0" smtClean="0"/>
            </a:br>
            <a:r>
              <a:rPr lang="en-US" sz="1400" dirty="0" smtClean="0"/>
              <a:t/>
            </a:r>
            <a:br>
              <a:rPr lang="en-US" sz="1400" dirty="0" smtClean="0"/>
            </a:br>
            <a:r>
              <a:rPr lang="en-US" sz="1400" dirty="0" smtClean="0"/>
              <a:t>* Max current limitation;</a:t>
            </a:r>
            <a:br>
              <a:rPr lang="en-US" sz="1400" dirty="0" smtClean="0"/>
            </a:br>
            <a:r>
              <a:rPr lang="en-US" sz="1400" dirty="0" smtClean="0"/>
              <a:t/>
            </a:r>
            <a:br>
              <a:rPr lang="en-US" sz="1400" dirty="0" smtClean="0"/>
            </a:br>
            <a:r>
              <a:rPr lang="en-US" sz="1400" dirty="0" smtClean="0"/>
              <a:t>* One GPIO pin controlling 3 states of LED via NOR gate (RED – charging, GREEN – fully charged, LED off – not charging);</a:t>
            </a:r>
            <a:br>
              <a:rPr lang="en-US" sz="1400" dirty="0" smtClean="0"/>
            </a:br>
            <a:r>
              <a:rPr lang="en-US" sz="1400" dirty="0"/>
              <a:t/>
            </a:r>
            <a:br>
              <a:rPr lang="en-US" sz="1400" dirty="0"/>
            </a:br>
            <a:r>
              <a:rPr lang="en-US" sz="1400" dirty="0" smtClean="0"/>
              <a:t>*  Design 3D printed holder with integrated charging contacts.</a:t>
            </a:r>
            <a:br>
              <a:rPr lang="en-US" sz="1400" dirty="0" smtClean="0"/>
            </a:br>
            <a:endParaRPr lang="en-US" sz="1400" dirty="0"/>
          </a:p>
        </p:txBody>
      </p:sp>
      <p:pic>
        <p:nvPicPr>
          <p:cNvPr id="3080" name="Picture 8"/>
          <p:cNvPicPr>
            <a:picLocks noChangeAspect="1" noChangeArrowheads="1"/>
          </p:cNvPicPr>
          <p:nvPr/>
        </p:nvPicPr>
        <p:blipFill>
          <a:blip r:embed="rId3"/>
          <a:srcRect/>
          <a:stretch>
            <a:fillRect/>
          </a:stretch>
        </p:blipFill>
        <p:spPr bwMode="auto">
          <a:xfrm>
            <a:off x="3114675" y="609600"/>
            <a:ext cx="6029325" cy="59721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23</Words>
  <Application>Microsoft Office PowerPoint</Application>
  <PresentationFormat>On-screen Show (4:3)</PresentationFormat>
  <Paragraphs>5</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Bachelors degree finals:  Rebuild analog motor test bench into digital format for better measurements.   Key work performed:  * New sensor integration (thermistor bridge, ACS712 hall sensor for up to 20 amps measurement);  * PCB design;  * Signal range calibration via Opamp circuit to make 0 – 5V range for compatibility with provided ADC converter. </vt:lpstr>
      <vt:lpstr>Electronic wiring on moving parts:  One motor stationary, other moving up and down. Implement reliable communication and power supply for the upper motor and homing sensor with easy maintenance solutions in mind.  Key work performed:  * Replacing first prototype +- 10 wires with JST crimping connectors (which didn’t perform well in range of 10k+ cycles) with one FFC cable as it can withstand up to 3 million bending cycles with bending radius of 5 mm as per datasheet;   * PCB redesign for FFC cable compatibility;  Result: * No more wiring change after few months; * Easy to troubleshoot moving electronic part as there is only one cable left and no more wire crimping needed.</vt:lpstr>
      <vt:lpstr>Puck with LED strip:  Based on STM32, LED strip control via SPI, accelerometer (LSM6DSOTR) via I2C and specific charging possibility for 3.7v Li-Po battery with user friendly design. LED strip lights up when specific threshold is reached from accelerometer. When no trigger detected system goes in sleep mode with 200uA consumption.  Key work performed:  * H-bridge rectifier integration at charging input to make it non polar charging;  * Charging circuit with MAX1736EUT42+T;  * low voltage threshold detection to avoid battery drainage.</vt:lpstr>
      <vt:lpstr>Puck with LED strip charging station:  Design charging station for 3.7V Li-Po charging for specific device.  Key work performed:  * Current monitoring with  current sense amplifier INA185 and shunt resistor;  * Max current limitation;  * One GPIO pin controlling 3 states of LED via NOR gate (RED – charging, GREEN – fully charged, LED off – not charging);  *  Design 3D printed holder with integrated charging contacts.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62</cp:revision>
  <dcterms:created xsi:type="dcterms:W3CDTF">2025-03-01T10:13:24Z</dcterms:created>
  <dcterms:modified xsi:type="dcterms:W3CDTF">2025-03-07T07:23:39Z</dcterms:modified>
</cp:coreProperties>
</file>